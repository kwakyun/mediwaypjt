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가중치(%)</c:v>
                </c:pt>
              </c:strCache>
            </c:strRef>
          </c:tx>
          <c:spPr>
            <a:solidFill>
              <a:srgbClr val="1479B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A43"/>
                    </a:solidFill>
                    <a:latin typeface="Noto Sans CJK K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79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79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199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1999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FB3C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진료 조건</c:v>
                  </c:pt>
                  <c:pt idx="1">
                    <c:v>경로 편의</c:v>
                  </c:pt>
                  <c:pt idx="2">
                    <c:v>시설 접근성</c:v>
                  </c:pt>
                  <c:pt idx="3">
                    <c:v>진료 가능 시간</c:v>
                  </c:pt>
                  <c:pt idx="4">
                    <c:v>데이터 근거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02A43"/>
                  </a:solidFill>
                  <a:latin typeface="Noto Sans CJK K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A43"/>
                </a:solidFill>
                <a:latin typeface="Noto Sans CJK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1순위 점수</c:v>
                </c:pt>
              </c:strCache>
            </c:strRef>
          </c:tx>
          <c:spPr>
            <a:solidFill>
              <a:srgbClr val="1479B8"/>
            </a:solidFill>
            <a:effectLst/>
          </c:spPr>
          <c:invertIfNegative val="0"/>
          <c:dLbls>
            <c:numFmt formatCode="0.0&quot;점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A43"/>
                    </a:solidFill>
                    <a:latin typeface="Noto Sans CJK K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기본 조건</c:v>
                  </c:pt>
                  <c:pt idx="1">
                    <c:v>고령자 · 보행취약</c:v>
                  </c:pt>
                  <c:pt idx="2">
                    <c:v>호흡기 · 대기질</c:v>
                  </c:pt>
                  <c:pt idx="3">
                    <c:v>복합 조건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64.6</c:v>
                </c:pt>
                <c:pt idx="1">
                  <c:v>80.6</c:v>
                </c:pt>
                <c:pt idx="2">
                  <c:v>64.6</c:v>
                </c:pt>
                <c:pt idx="3">
                  <c:v>69.7</c:v>
                </c:pt>
              </c:numCache>
            </c:numRef>
          </c:val>
        </c:ser>
        <c:dLbls>
          <c:numFmt formatCode="0.0&quot;점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02A43"/>
                  </a:solidFill>
                  <a:latin typeface="Noto Sans CJK K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02A43"/>
                </a:solidFill>
                <a:latin typeface="Noto Sans CJK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2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81160" y="0"/>
            <a:ext cx="2910535" cy="685800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3" name="Shape 1"/>
          <p:cNvSpPr/>
          <p:nvPr/>
        </p:nvSpPr>
        <p:spPr>
          <a:xfrm>
            <a:off x="10736428" y="1060704"/>
            <a:ext cx="0" cy="576072"/>
          </a:xfrm>
          <a:prstGeom prst="line">
            <a:avLst/>
          </a:prstGeom>
          <a:noFill/>
          <a:ln w="15875">
            <a:solidFill>
              <a:srgbClr val="9FB3C8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0736428" y="1746504"/>
            <a:ext cx="0" cy="576072"/>
          </a:xfrm>
          <a:prstGeom prst="line">
            <a:avLst/>
          </a:prstGeom>
          <a:noFill/>
          <a:ln w="15875">
            <a:solidFill>
              <a:srgbClr val="9FB3C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690708" y="1005840"/>
            <a:ext cx="91440" cy="91440"/>
          </a:xfrm>
          <a:prstGeom prst="ellipse">
            <a:avLst/>
          </a:prstGeom>
          <a:solidFill>
            <a:srgbClr val="9FB3C8"/>
          </a:solidFill>
          <a:ln/>
        </p:spPr>
      </p:sp>
      <p:sp>
        <p:nvSpPr>
          <p:cNvPr id="6" name="Shape 4"/>
          <p:cNvSpPr/>
          <p:nvPr/>
        </p:nvSpPr>
        <p:spPr>
          <a:xfrm>
            <a:off x="10690708" y="1691640"/>
            <a:ext cx="91440" cy="91440"/>
          </a:xfrm>
          <a:prstGeom prst="ellipse">
            <a:avLst/>
          </a:prstGeom>
          <a:solidFill>
            <a:srgbClr val="9FB3C8"/>
          </a:solidFill>
          <a:ln/>
        </p:spPr>
      </p:sp>
      <p:sp>
        <p:nvSpPr>
          <p:cNvPr id="7" name="Shape 5"/>
          <p:cNvSpPr/>
          <p:nvPr/>
        </p:nvSpPr>
        <p:spPr>
          <a:xfrm>
            <a:off x="10690708" y="2377440"/>
            <a:ext cx="91440" cy="91440"/>
          </a:xfrm>
          <a:prstGeom prst="ellipse">
            <a:avLst/>
          </a:prstGeom>
          <a:solidFill>
            <a:srgbClr val="11999E"/>
          </a:solidFill>
          <a:ln/>
        </p:spPr>
      </p:sp>
      <p:sp>
        <p:nvSpPr>
          <p:cNvPr id="8" name="Shape 6"/>
          <p:cNvSpPr/>
          <p:nvPr/>
        </p:nvSpPr>
        <p:spPr>
          <a:xfrm>
            <a:off x="10169500" y="3063240"/>
            <a:ext cx="1133856" cy="1133856"/>
          </a:xfrm>
          <a:prstGeom prst="ellipse">
            <a:avLst/>
          </a:prstGeom>
          <a:solidFill>
            <a:srgbClr val="11999E"/>
          </a:solidFill>
          <a:ln/>
        </p:spPr>
      </p:sp>
      <p:sp>
        <p:nvSpPr>
          <p:cNvPr id="9" name="Text 7"/>
          <p:cNvSpPr/>
          <p:nvPr/>
        </p:nvSpPr>
        <p:spPr>
          <a:xfrm>
            <a:off x="10169500" y="3063240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281160" y="4434840"/>
            <a:ext cx="2910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MEDICAL ACCESSIBILITY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868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999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MEDIWAY PROJECT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28016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메디웨이 프로젝트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79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질환 · 이동 · 운영을 연결한 의료 접근성 추천 서비스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거리순 검색을 넘어, 지금 방문하기 쉬운 의료기관과 그 이유를 설명합니다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420624" cy="420624"/>
          </a:xfrm>
          <a:prstGeom prst="ellipse">
            <a:avLst/>
          </a:prstGeom>
          <a:solidFill>
            <a:srgbClr val="1479B8"/>
          </a:solidFill>
          <a:ln/>
        </p:spPr>
      </p:sp>
      <p:pic>
        <p:nvPicPr>
          <p:cNvPr id="16" name="Image 0" descr="/home/claude/build/icons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4718670"/>
            <a:ext cx="218724" cy="21872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60704" y="4617720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질환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240280" y="4617720"/>
            <a:ext cx="420624" cy="420624"/>
          </a:xfrm>
          <a:prstGeom prst="ellipse">
            <a:avLst/>
          </a:prstGeom>
          <a:solidFill>
            <a:srgbClr val="1479B8"/>
          </a:solidFill>
          <a:ln/>
        </p:spPr>
      </p:sp>
      <p:pic>
        <p:nvPicPr>
          <p:cNvPr id="19" name="Image 1" descr="/home/claude/build/icons/nav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230" y="4718670"/>
            <a:ext cx="218724" cy="21872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752344" y="4617720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이동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931920" y="4617720"/>
            <a:ext cx="420624" cy="420624"/>
          </a:xfrm>
          <a:prstGeom prst="ellipse">
            <a:avLst/>
          </a:prstGeom>
          <a:solidFill>
            <a:srgbClr val="1479B8"/>
          </a:solidFill>
          <a:ln/>
        </p:spPr>
      </p:sp>
      <p:pic>
        <p:nvPicPr>
          <p:cNvPr id="22" name="Image 2" descr="/home/claude/build/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870" y="4718670"/>
            <a:ext cx="218724" cy="2187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443984" y="4617720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부산광역시 금정구 · Streamlit 기반 의료 접근성 프로젝트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지도는 길을 찾지만, 메디웨이는 ‘갈 수 있는 병원’을 비교합니다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999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거리순 검색이 놓치는 세 가지 판단 기준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583680" cy="1143000"/>
          </a:xfrm>
          <a:prstGeom prst="roundRect">
            <a:avLst>
              <a:gd name="adj" fmla="val 64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89988"/>
            <a:ext cx="512064" cy="512064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6" name="Image 0" descr="/home/claude/build/icons/nav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2312883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208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이동 부담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429000" y="1874520"/>
            <a:ext cx="3429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이동시간 · 야외 노출 · 환승에 따라 부담이 달라집니다.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273552"/>
            <a:ext cx="6583680" cy="1143000"/>
          </a:xfrm>
          <a:prstGeom prst="roundRect">
            <a:avLst>
              <a:gd name="adj" fmla="val 6400"/>
            </a:avLst>
          </a:prstGeom>
          <a:solidFill>
            <a:srgbClr val="E8F3FA"/>
          </a:solidFill>
          <a:ln w="15875">
            <a:solidFill>
              <a:srgbClr val="1479B8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589020"/>
            <a:ext cx="512064" cy="512064"/>
          </a:xfrm>
          <a:prstGeom prst="ellipse">
            <a:avLst/>
          </a:prstGeom>
          <a:solidFill>
            <a:srgbClr val="1479B8"/>
          </a:solidFill>
          <a:ln/>
        </p:spPr>
      </p:sp>
      <p:pic>
        <p:nvPicPr>
          <p:cNvPr id="11" name="Image 1" descr="/home/claude/build/icons/activit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55" y="371191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4198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진료 조건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29000" y="3273552"/>
            <a:ext cx="3429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질환 관련 진료과와 실제 진료 가능 시간을 함께 봐야 합니다.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672584"/>
            <a:ext cx="6583680" cy="1143000"/>
          </a:xfrm>
          <a:prstGeom prst="roundRect">
            <a:avLst>
              <a:gd name="adj" fmla="val 64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988052"/>
            <a:ext cx="512064" cy="512064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16" name="Image 2" descr="/home/claude/build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5110947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818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접근 근거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429000" y="4672584"/>
            <a:ext cx="3429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이동 취약 특성과 확인된 시설 정보가 필요합니다.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498080" y="1874520"/>
            <a:ext cx="4144975" cy="3941064"/>
          </a:xfrm>
          <a:prstGeom prst="roundRect">
            <a:avLst>
              <a:gd name="adj" fmla="val 1856"/>
            </a:avLst>
          </a:prstGeom>
          <a:solidFill>
            <a:srgbClr val="102A43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818120" y="2194560"/>
            <a:ext cx="3504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1999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PROJECT QUESTION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818120" y="2606040"/>
            <a:ext cx="350489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내 조건에서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실제로 방문하기 쉬운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의료기관은 어디이며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그런가?</a:t>
            </a:r>
            <a:endParaRPr lang="en-US" sz="2100" dirty="0"/>
          </a:p>
        </p:txBody>
      </p:sp>
      <p:sp>
        <p:nvSpPr>
          <p:cNvPr id="22" name="Shape 17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7E1E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4864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범위: 의료 진단이 아닌 공개 데이터 기반 ‘방문 접근성’ 비교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주제는 ‘거리순’이 아닌 설명 가능한 접근성 추천입니다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2984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999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질환, 실제 이동 부담, 운영·접근성 근거를 결합하면 추천의 차이와 이유를 함께 설명할 수 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752344"/>
            <a:ext cx="457200" cy="457200"/>
          </a:xfrm>
          <a:prstGeom prst="ellipse">
            <a:avLst/>
          </a:prstGeom>
          <a:solidFill>
            <a:srgbClr val="1479B8"/>
          </a:solidFill>
          <a:ln/>
        </p:spPr>
      </p:sp>
      <p:pic>
        <p:nvPicPr>
          <p:cNvPr id="7" name="Image 0" descr="/home/claude/build/icons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6207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00984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진료 조건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2752344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질환 + 공개 진료과목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950208" y="2514600"/>
            <a:ext cx="3108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261104" y="2514600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17136" y="2752344"/>
            <a:ext cx="457200" cy="457200"/>
          </a:xfrm>
          <a:prstGeom prst="ellipse">
            <a:avLst/>
          </a:prstGeom>
          <a:solidFill>
            <a:srgbClr val="1479B8"/>
          </a:solidFill>
          <a:ln/>
        </p:spPr>
      </p:sp>
      <p:pic>
        <p:nvPicPr>
          <p:cNvPr id="13" name="Image 1" descr="/home/claude/build/icons/nav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86207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7136" y="3300984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이동 부담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84064" y="2752344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 + 야외 노출 + 환승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7662672" y="2514600"/>
            <a:ext cx="3108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7973568" y="2514600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0" y="2752344"/>
            <a:ext cx="457200" cy="457200"/>
          </a:xfrm>
          <a:prstGeom prst="ellipse">
            <a:avLst/>
          </a:prstGeom>
          <a:solidFill>
            <a:srgbClr val="1479B8"/>
          </a:solidFill>
          <a:ln/>
        </p:spPr>
      </p:sp>
      <p:pic>
        <p:nvPicPr>
          <p:cNvPr id="19" name="Image 2" descr="/home/claude/build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862072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0" y="3300984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· 접근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796528" y="2752344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진료시간 + 시설 근거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961888" y="3803904"/>
            <a:ext cx="0" cy="384048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548640" y="4315968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8F3FA"/>
          </a:solidFill>
          <a:ln w="15875">
            <a:solidFill>
              <a:srgbClr val="1479B8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41248" y="4567428"/>
            <a:ext cx="548640" cy="548640"/>
          </a:xfrm>
          <a:prstGeom prst="ellipse">
            <a:avLst/>
          </a:prstGeom>
          <a:solidFill>
            <a:srgbClr val="1479B8"/>
          </a:solidFill>
          <a:ln/>
        </p:spPr>
      </p:sp>
      <p:pic>
        <p:nvPicPr>
          <p:cNvPr id="25" name="Image 3" descr="/home/claude/build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2" y="4699102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투명한 결과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600200" y="48646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5개 점수 + 추천 이유를 함께 제시합니다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7E1E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차별점: 지도 서비스 앞단에서 질환·이동·운영 근거로 후보를 비교하고 실제 길찾기로 연결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데이터와 신규 근거 데이터셋을 시설 ID로 연결했습니다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67528" cy="1572768"/>
          </a:xfrm>
          <a:prstGeom prst="roundRect">
            <a:avLst>
              <a:gd name="adj" fmla="val 465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5" name="Image 0" descr="/home/claude/build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928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83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등록 시설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79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27곳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3200400" y="2286000"/>
            <a:ext cx="2441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병원 15 · 약국 12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좌표 · 진료과 정제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81928" y="1508760"/>
            <a:ext cx="5367528" cy="1572768"/>
          </a:xfrm>
          <a:prstGeom prst="roundRect">
            <a:avLst>
              <a:gd name="adj" fmla="val 465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6248" y="1783080"/>
            <a:ext cx="457200" cy="457200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11" name="Image 1" descr="/home/claude/build/icons/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18928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0608" y="1783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생활권 경로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56248" y="23317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79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60건</a:t>
            </a:r>
            <a:endParaRPr lang="en-US" sz="2700" dirty="0"/>
          </a:p>
        </p:txBody>
      </p:sp>
      <p:sp>
        <p:nvSpPr>
          <p:cNvPr id="14" name="Text 10"/>
          <p:cNvSpPr/>
          <p:nvPr/>
        </p:nvSpPr>
        <p:spPr>
          <a:xfrm>
            <a:off x="8933688" y="2286000"/>
            <a:ext cx="2441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OSM 근사 45건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미확인 15건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355848"/>
            <a:ext cx="5367528" cy="1572768"/>
          </a:xfrm>
          <a:prstGeom prst="roundRect">
            <a:avLst>
              <a:gd name="adj" fmla="val 465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3630168"/>
            <a:ext cx="457200" cy="457200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17" name="Image 2" descr="/home/claude/build/icons/activit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989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6301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임상 · 운영 근거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2960" y="4178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79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병원 15곳</a:t>
            </a:r>
            <a:endParaRPr lang="en-US" sz="2700" dirty="0"/>
          </a:p>
        </p:txBody>
      </p:sp>
      <p:sp>
        <p:nvSpPr>
          <p:cNvPr id="20" name="Text 15"/>
          <p:cNvSpPr/>
          <p:nvPr/>
        </p:nvSpPr>
        <p:spPr>
          <a:xfrm>
            <a:off x="3200400" y="4133088"/>
            <a:ext cx="2441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야간 · 주말 · 응급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재활 · 전문의 근거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81928" y="3355848"/>
            <a:ext cx="5367528" cy="1572768"/>
          </a:xfrm>
          <a:prstGeom prst="roundRect">
            <a:avLst>
              <a:gd name="adj" fmla="val 4651"/>
            </a:avLst>
          </a:prstGeom>
          <a:solidFill>
            <a:srgbClr val="E8F3FA"/>
          </a:solidFill>
          <a:ln w="15875">
            <a:solidFill>
              <a:srgbClr val="11999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56248" y="3630168"/>
            <a:ext cx="457200" cy="457200"/>
          </a:xfrm>
          <a:prstGeom prst="ellipse">
            <a:avLst/>
          </a:prstGeom>
          <a:solidFill>
            <a:srgbClr val="11999E"/>
          </a:solidFill>
          <a:ln/>
        </p:spPr>
      </p:sp>
      <p:pic>
        <p:nvPicPr>
          <p:cNvPr id="23" name="Image 3" descr="/home/claude/build/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373989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50608" y="36301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접근성 보강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556248" y="4178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999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병원 15곳</a:t>
            </a:r>
            <a:endParaRPr lang="en-US" sz="2700" dirty="0"/>
          </a:p>
        </p:txBody>
      </p:sp>
      <p:sp>
        <p:nvSpPr>
          <p:cNvPr id="26" name="Text 20"/>
          <p:cNvSpPr/>
          <p:nvPr/>
        </p:nvSpPr>
        <p:spPr>
          <a:xfrm>
            <a:off x="8933688" y="4133088"/>
            <a:ext cx="2441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기관별 보행 관측 3건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확인된 주차 근거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48640" y="51846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6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추가 입력 :  임상 · 운영 근거 + 시설 접근성 보강 데이터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7E1E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확인되지 않은 물리 접근성은 unknown으로 유지하며 임의 점수를 주지 않습니다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수집부터 추천 · 검증까지 다섯 단계로 구현했습니다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82980" y="2766060"/>
            <a:ext cx="10225735" cy="0"/>
          </a:xfrm>
          <a:prstGeom prst="line">
            <a:avLst/>
          </a:prstGeom>
          <a:noFill/>
          <a:ln w="25400">
            <a:solidFill>
              <a:srgbClr val="D7E1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7220" y="194767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868680" cy="868680"/>
          </a:xfrm>
          <a:prstGeom prst="ellipse">
            <a:avLst/>
          </a:prstGeom>
          <a:solidFill>
            <a:srgbClr val="1479B8"/>
          </a:solidFill>
          <a:ln/>
        </p:spPr>
      </p:sp>
      <p:pic>
        <p:nvPicPr>
          <p:cNvPr id="6" name="Image 0" descr="/home/claude/build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254020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" y="3364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수집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-68580" y="371246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CSV · MVP 엑셀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73654" y="194767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05074" y="2331720"/>
            <a:ext cx="868680" cy="868680"/>
          </a:xfrm>
          <a:prstGeom prst="ellipse">
            <a:avLst/>
          </a:prstGeom>
          <a:solidFill>
            <a:srgbClr val="1479B8"/>
          </a:solidFill>
          <a:ln/>
        </p:spPr>
      </p:sp>
      <p:pic>
        <p:nvPicPr>
          <p:cNvPr id="11" name="Image 1" descr="/home/claude/build/icons/fil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557" y="254020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70734" y="3364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2487854" y="371246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시설 ID · 좌표 · 진료과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730088" y="194767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661508" y="2331720"/>
            <a:ext cx="868680" cy="868680"/>
          </a:xfrm>
          <a:prstGeom prst="ellipse">
            <a:avLst/>
          </a:prstGeom>
          <a:solidFill>
            <a:srgbClr val="0F8CA8"/>
          </a:solidFill>
          <a:ln/>
        </p:spPr>
      </p:sp>
      <p:pic>
        <p:nvPicPr>
          <p:cNvPr id="16" name="Image 2" descr="/home/claude/build/icons/mer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991" y="254020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27168" y="3364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결합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044288" y="371246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경로 · 운영 · 접근성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286521" y="194767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217941" y="2331720"/>
            <a:ext cx="868680" cy="868680"/>
          </a:xfrm>
          <a:prstGeom prst="ellipse">
            <a:avLst/>
          </a:prstGeom>
          <a:solidFill>
            <a:srgbClr val="11999E"/>
          </a:solidFill>
          <a:ln/>
        </p:spPr>
      </p:sp>
      <p:pic>
        <p:nvPicPr>
          <p:cNvPr id="21" name="Image 3" descr="/home/claude/build/icons/b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425" y="254020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83601" y="3364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계산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600721" y="371246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5개 점수 · 추천 이유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0842955" y="194767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10774375" y="2331720"/>
            <a:ext cx="868680" cy="868680"/>
          </a:xfrm>
          <a:prstGeom prst="ellipse">
            <a:avLst/>
          </a:prstGeom>
          <a:solidFill>
            <a:srgbClr val="11999E"/>
          </a:solidFill>
          <a:ln/>
        </p:spPr>
      </p:sp>
      <p:pic>
        <p:nvPicPr>
          <p:cNvPr id="26" name="Image 4" descr="/home/claude/build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2858" y="2540203"/>
            <a:ext cx="451714" cy="45171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340035" y="3364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0157155" y="371246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43개 테스트 · 4개 시나리오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443484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914400" y="4434840"/>
            <a:ext cx="103628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검증 → 순수 계산 함수 → Streamlit UI → 대표 시나리오 결과를 같은 기준으로 연결했습니다.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7E1E8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4864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흐름: source → normalize → enrich → score → verify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 점수는 진료 조건과 실제 이동 부담을 중심으로 계산합니다</a:t>
            </a:r>
            <a:endParaRPr lang="en-US" sz="25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20040" y="1417320"/>
          <a:ext cx="667512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52360" y="1417320"/>
            <a:ext cx="4190695" cy="1783080"/>
          </a:xfrm>
          <a:prstGeom prst="roundRect">
            <a:avLst>
              <a:gd name="adj" fmla="val 4103"/>
            </a:avLst>
          </a:prstGeom>
          <a:solidFill>
            <a:srgbClr val="E8F3FA"/>
          </a:solidFill>
          <a:ln w="15875">
            <a:solidFill>
              <a:srgbClr val="1479B8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44968" y="1627632"/>
            <a:ext cx="3642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79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점수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744968" y="1965960"/>
            <a:ext cx="364205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진료 조건×0.35 + 경로 편의×0.30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시설 접근성×0.20 + 진료시간×0.10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근거×0.05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452360" y="3429000"/>
            <a:ext cx="4190695" cy="2697480"/>
          </a:xfrm>
          <a:prstGeom prst="roundRect">
            <a:avLst>
              <a:gd name="adj" fmla="val 2712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44968" y="3657600"/>
            <a:ext cx="3642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보수적인 근거 처리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63256" y="4197096"/>
            <a:ext cx="64008" cy="64008"/>
          </a:xfrm>
          <a:prstGeom prst="ellipse">
            <a:avLst/>
          </a:prstGeom>
          <a:solidFill>
            <a:srgbClr val="11999E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0" y="4114800"/>
            <a:ext cx="341345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 질환과 공개 진료과목 연결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763256" y="4700016"/>
            <a:ext cx="64008" cy="64008"/>
          </a:xfrm>
          <a:prstGeom prst="ellipse">
            <a:avLst/>
          </a:prstGeom>
          <a:solidFill>
            <a:srgbClr val="11999E"/>
          </a:solidFill>
          <a:ln/>
        </p:spPr>
      </p:sp>
      <p:sp>
        <p:nvSpPr>
          <p:cNvPr id="12" name="Text 9"/>
          <p:cNvSpPr/>
          <p:nvPr/>
        </p:nvSpPr>
        <p:spPr>
          <a:xfrm>
            <a:off x="7955280" y="4617720"/>
            <a:ext cx="341345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운영시간은 방문 시간의 폭만 평가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63256" y="5202936"/>
            <a:ext cx="64008" cy="64008"/>
          </a:xfrm>
          <a:prstGeom prst="ellipse">
            <a:avLst/>
          </a:prstGeom>
          <a:solidFill>
            <a:srgbClr val="11999E"/>
          </a:solidFill>
          <a:ln/>
        </p:spPr>
      </p:sp>
      <p:sp>
        <p:nvSpPr>
          <p:cNvPr id="14" name="Text 11"/>
          <p:cNvSpPr/>
          <p:nvPr/>
        </p:nvSpPr>
        <p:spPr>
          <a:xfrm>
            <a:off x="7955280" y="5120640"/>
            <a:ext cx="341345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물리 접근성 unknown은 중립 처리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7E1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보행 관측은 근거 수준에만 반영해 기존 경로 점수와 이중 계산하지 않습니다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 근거를 반영해도 1위는 유지되고 점수 설명력은 높아졌습니다</a:t>
            </a:r>
            <a:endParaRPr lang="en-US" sz="25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20040" y="1417320"/>
          <a:ext cx="667512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52360" y="1417320"/>
            <a:ext cx="4190695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08392" y="1668780"/>
            <a:ext cx="457200" cy="457200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6" name="Image 0" descr="/home/claude/build/icons/hospita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77850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21040" y="15636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79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DEMO-01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8321040" y="18562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지온병원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452360" y="1417320"/>
            <a:ext cx="391637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4.11km · 64.6점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452360" y="2542032"/>
            <a:ext cx="4190695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08392" y="2793492"/>
            <a:ext cx="457200" cy="457200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12" name="Image 1" descr="/home/claude/build/icons/hospit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0322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21040" y="26883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79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DEMO-02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8321040" y="29809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더케이부산병원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452360" y="2542032"/>
            <a:ext cx="391637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0.24km · 80.6점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452360" y="3666744"/>
            <a:ext cx="4190695" cy="960120"/>
          </a:xfrm>
          <a:prstGeom prst="roundRect">
            <a:avLst>
              <a:gd name="adj" fmla="val 7619"/>
            </a:avLst>
          </a:prstGeom>
          <a:solidFill>
            <a:srgbClr val="E8F3FA"/>
          </a:solidFill>
          <a:ln w="15875">
            <a:solidFill>
              <a:srgbClr val="1479B8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08392" y="3918204"/>
            <a:ext cx="457200" cy="457200"/>
          </a:xfrm>
          <a:prstGeom prst="ellipse">
            <a:avLst/>
          </a:prstGeom>
          <a:solidFill>
            <a:srgbClr val="1479B8"/>
          </a:solidFill>
          <a:ln/>
        </p:spPr>
      </p:sp>
      <p:pic>
        <p:nvPicPr>
          <p:cNvPr id="18" name="Image 2" descr="/home/claude/build/icons/hospit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02793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21040" y="3813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79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DEMO-03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321040" y="41056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지온병원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452360" y="3666744"/>
            <a:ext cx="391637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4.11km · 64.6점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7452360" y="4791456"/>
            <a:ext cx="4190695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708392" y="5042916"/>
            <a:ext cx="457200" cy="457200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24" name="Image 3" descr="/home/claude/build/icons/hospita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5152644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321040" y="4937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79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DEMO-04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8321040" y="5230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세웅병원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452360" y="4791456"/>
            <a:ext cx="391637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0.44km · 69.7점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7E1E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4864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결과: 43개 테스트 통과 · output/analysis/scenario_results.csv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금정구의 높은 고령 비율이 이동 접근성의 필요성을 뒷받침합니다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999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 인구 구조를 문제 정의와 연결하되 의료 인프라 부족으로 단정하지 않습니다.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38728" cy="1554480"/>
          </a:xfrm>
          <a:prstGeom prst="roundRect">
            <a:avLst>
              <a:gd name="adj" fmla="val 470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12264"/>
            <a:ext cx="402336" cy="402336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6" name="Image 0" descr="/home/claude/build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233" y="220882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87752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206,033명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804672" y="3081528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주민등록 인구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74520"/>
            <a:ext cx="3538728" cy="1554480"/>
          </a:xfrm>
          <a:prstGeom prst="roundRect">
            <a:avLst>
              <a:gd name="adj" fmla="val 470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2112264"/>
            <a:ext cx="402336" cy="402336"/>
          </a:xfrm>
          <a:prstGeom prst="ellipse">
            <a:avLst/>
          </a:prstGeom>
          <a:solidFill>
            <a:srgbClr val="11999E"/>
          </a:solidFill>
          <a:ln/>
        </p:spPr>
      </p:sp>
      <p:pic>
        <p:nvPicPr>
          <p:cNvPr id="11" name="Image 1" descr="/home/claude/build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705" y="2208825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587752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999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59,484명</a:t>
            </a:r>
            <a:endParaRPr lang="en-US" sz="2500" dirty="0"/>
          </a:p>
        </p:txBody>
      </p:sp>
      <p:sp>
        <p:nvSpPr>
          <p:cNvPr id="13" name="Text 9"/>
          <p:cNvSpPr/>
          <p:nvPr/>
        </p:nvSpPr>
        <p:spPr>
          <a:xfrm>
            <a:off x="4581144" y="3081528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65세 이상 인구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74520"/>
            <a:ext cx="3538728" cy="1554480"/>
          </a:xfrm>
          <a:prstGeom prst="roundRect">
            <a:avLst>
              <a:gd name="adj" fmla="val 470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112264"/>
            <a:ext cx="402336" cy="402336"/>
          </a:xfrm>
          <a:prstGeom prst="ellipse">
            <a:avLst/>
          </a:prstGeom>
          <a:solidFill>
            <a:srgbClr val="C56A12"/>
          </a:solidFill>
          <a:ln/>
        </p:spPr>
      </p:sp>
      <p:pic>
        <p:nvPicPr>
          <p:cNvPr id="16" name="Image 2" descr="/home/claude/build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177" y="2208825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587752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56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28.9%</a:t>
            </a:r>
            <a:endParaRPr lang="en-US" sz="2500" dirty="0"/>
          </a:p>
        </p:txBody>
      </p:sp>
      <p:sp>
        <p:nvSpPr>
          <p:cNvPr id="18" name="Text 13"/>
          <p:cNvSpPr/>
          <p:nvPr/>
        </p:nvSpPr>
        <p:spPr>
          <a:xfrm>
            <a:off x="8357616" y="3081528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65세 이상 비율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11094415" cy="365760"/>
          </a:xfrm>
          <a:prstGeom prst="roundRect">
            <a:avLst>
              <a:gd name="adj" fmla="val 15000"/>
            </a:avLst>
          </a:prstGeom>
          <a:solidFill>
            <a:srgbClr val="D7E1E8"/>
          </a:solidFill>
          <a:ln/>
        </p:spPr>
      </p:sp>
      <p:sp>
        <p:nvSpPr>
          <p:cNvPr id="20" name="Shape 15"/>
          <p:cNvSpPr/>
          <p:nvPr/>
        </p:nvSpPr>
        <p:spPr>
          <a:xfrm>
            <a:off x="548640" y="3840480"/>
            <a:ext cx="3206286" cy="365760"/>
          </a:xfrm>
          <a:prstGeom prst="roundRect">
            <a:avLst>
              <a:gd name="adj" fmla="val 15000"/>
            </a:avLst>
          </a:prstGeom>
          <a:solidFill>
            <a:srgbClr val="C56A12"/>
          </a:solidFill>
          <a:ln/>
        </p:spPr>
      </p:sp>
      <p:sp>
        <p:nvSpPr>
          <p:cNvPr id="21" name="Text 16"/>
          <p:cNvSpPr/>
          <p:nvPr/>
        </p:nvSpPr>
        <p:spPr>
          <a:xfrm>
            <a:off x="68580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65세 이상 28.9%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265615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금정구 전체 인구 대비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45720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E8F3FA"/>
          </a:solidFill>
          <a:ln w="15875">
            <a:solidFill>
              <a:srgbClr val="1479B8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868680" y="4736592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 중 선두구동의 65세 이상 비율이 44.2%로 가장 높습니다.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868680" y="5230368"/>
            <a:ext cx="10454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단, 선별 병원 · 약국 수만으로 실제 의료 인프라 부족을 단정하지 않습니다.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7E1E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4864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출처: 금정구청 주민등록 인구현황, 2026-03-31 · 앱 시설 지표는 선별 스냅샷 기준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메디웨이는 검색 → 비교 → 이동 → 상담을 한 흐름으로 연결합니다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01568" cy="3063240"/>
          </a:xfrm>
          <a:prstGeom prst="roundRect">
            <a:avLst>
              <a:gd name="adj" fmla="val 2388"/>
            </a:avLst>
          </a:prstGeom>
          <a:solidFill>
            <a:srgbClr val="E8F3FA"/>
          </a:solidFill>
          <a:ln w="15875">
            <a:solidFill>
              <a:srgbClr val="1479B8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1248" y="2148840"/>
            <a:ext cx="530352" cy="530352"/>
          </a:xfrm>
          <a:prstGeom prst="ellipse">
            <a:avLst/>
          </a:prstGeom>
          <a:solidFill>
            <a:srgbClr val="1479B8"/>
          </a:solidFill>
          <a:ln/>
        </p:spPr>
      </p:sp>
      <p:pic>
        <p:nvPicPr>
          <p:cNvPr id="5" name="Image 0" descr="/home/claude/build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532" y="2276124"/>
            <a:ext cx="275783" cy="2757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27248" y="21214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1248" y="28803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맞춤 추천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1248" y="3429000"/>
            <a:ext cx="28529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질환 · 사용자 · 현재 위치 선택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 5 · 점수 · 추천 근거 비교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931920" y="318668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build/icons/arrow_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5313" y="3270077"/>
            <a:ext cx="180685" cy="18068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931920" y="3186684"/>
            <a:ext cx="347472" cy="347472"/>
          </a:xfrm>
          <a:prstGeom prst="ellipse">
            <a:avLst/>
          </a:prstGeom>
          <a:ln w="12700">
            <a:solidFill>
              <a:srgbClr val="D7E1E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61104" y="1828800"/>
            <a:ext cx="3401568" cy="3063240"/>
          </a:xfrm>
          <a:prstGeom prst="roundRect">
            <a:avLst>
              <a:gd name="adj" fmla="val 2388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53712" y="2148840"/>
            <a:ext cx="530352" cy="530352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14" name="Image 2" descr="/home/claude/build/icons/nav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996" y="2276124"/>
            <a:ext cx="275783" cy="27578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39712" y="21214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53712" y="28803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이동 의사결정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553712" y="3429000"/>
            <a:ext cx="28529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거리 · 야외시간 · 대중교통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요금 · 환승 · 현재 위치 지도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644384" y="318668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/home/claude/build/icons/arrow_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777" y="3270077"/>
            <a:ext cx="180685" cy="18068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644384" y="3186684"/>
            <a:ext cx="347472" cy="347472"/>
          </a:xfrm>
          <a:prstGeom prst="ellipse">
            <a:avLst/>
          </a:prstGeom>
          <a:ln w="12700">
            <a:solidFill>
              <a:srgbClr val="D7E1E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973568" y="1828800"/>
            <a:ext cx="3401568" cy="3063240"/>
          </a:xfrm>
          <a:prstGeom prst="roundRect">
            <a:avLst>
              <a:gd name="adj" fmla="val 2388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266176" y="2148840"/>
            <a:ext cx="530352" cy="530352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23" name="Image 4" descr="/home/claude/build/icons/messag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3460" y="2276124"/>
            <a:ext cx="275783" cy="27578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52176" y="21214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8266176" y="28803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상담 · 투명성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8266176" y="3429000"/>
            <a:ext cx="28529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 · 의료 · 교통 CS 챗봇</a:t>
            </a:r>
            <a:endParaRPr lang="en-US" sz="1250" dirty="0"/>
          </a:p>
          <a:p>
            <a:pPr marL="152400" indent="-1524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가중치 · 출처 · 한계 공개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51663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999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지도는 실제 길찾기로 연결하고 메디웨이는 그 전에 후보 선택을 돕습니다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7E1E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4864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구현: Python · Streamlit · pandas · Plotly · ODsay · 선택형 OpenAI API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산출물은 데이터 · 추천 · UI · 검증 모듈로 분리했습니다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4415" cy="50292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영역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11880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설계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77840" y="14630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내용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15400" y="1463040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109441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253996"/>
            <a:ext cx="384048" cy="384048"/>
          </a:xfrm>
          <a:prstGeom prst="ellipse">
            <a:avLst/>
          </a:prstGeom>
          <a:solidFill>
            <a:srgbClr val="1479B8"/>
          </a:solidFill>
          <a:ln/>
        </p:spPr>
      </p:sp>
      <p:pic>
        <p:nvPicPr>
          <p:cNvPr id="10" name="Image 0" descr="/home/claude/build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2" y="2346168"/>
            <a:ext cx="199705" cy="19970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0432" y="196596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입력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11880" y="196596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999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CSV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577840" y="196596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시설 ID · 좌표 · 운영 · 근거 결합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915400" y="1965960"/>
            <a:ext cx="25877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processed CSV · source notes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2926080"/>
            <a:ext cx="11094415" cy="960120"/>
          </a:xfrm>
          <a:prstGeom prst="rect">
            <a:avLst/>
          </a:prstGeom>
          <a:solidFill>
            <a:srgbClr val="F4F7F9"/>
          </a:solidFill>
          <a:ln w="9525">
            <a:solidFill>
              <a:srgbClr val="D7E1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3214116"/>
            <a:ext cx="384048" cy="384048"/>
          </a:xfrm>
          <a:prstGeom prst="ellipse">
            <a:avLst/>
          </a:prstGeom>
          <a:solidFill>
            <a:srgbClr val="1479B8"/>
          </a:solidFill>
          <a:ln/>
        </p:spPr>
      </p:sp>
      <p:pic>
        <p:nvPicPr>
          <p:cNvPr id="17" name="Image 1" descr="/home/claude/build/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72" y="3306288"/>
            <a:ext cx="199705" cy="19970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70432" y="292608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 엔진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611880" y="292608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999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순수 함수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577840" y="292608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5개 점수 · 질환 매핑 · 추천 이유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915400" y="2926080"/>
            <a:ext cx="25877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scoring.py · evidence_scoring.py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3886200"/>
            <a:ext cx="1109441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85800" y="4174236"/>
            <a:ext cx="384048" cy="384048"/>
          </a:xfrm>
          <a:prstGeom prst="ellipse">
            <a:avLst/>
          </a:prstGeom>
          <a:solidFill>
            <a:srgbClr val="1479B8"/>
          </a:solidFill>
          <a:ln/>
        </p:spPr>
      </p:sp>
      <p:pic>
        <p:nvPicPr>
          <p:cNvPr id="24" name="Image 2" descr="/home/claude/build/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2" y="4266408"/>
            <a:ext cx="199705" cy="19970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70432" y="388620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UI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3611880" y="388620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999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SaaS 화면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5577840" y="388620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 · 지도 · 대중교통 · 챗봇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915400" y="3886200"/>
            <a:ext cx="25877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app.py · mobility.py · chatbot.py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48640" y="4846320"/>
            <a:ext cx="11094415" cy="960120"/>
          </a:xfrm>
          <a:prstGeom prst="rect">
            <a:avLst/>
          </a:prstGeom>
          <a:solidFill>
            <a:srgbClr val="F4F7F9"/>
          </a:solidFill>
          <a:ln w="9525">
            <a:solidFill>
              <a:srgbClr val="D7E1E8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85800" y="5134356"/>
            <a:ext cx="384048" cy="384048"/>
          </a:xfrm>
          <a:prstGeom prst="ellipse">
            <a:avLst/>
          </a:prstGeom>
          <a:solidFill>
            <a:srgbClr val="1479B8"/>
          </a:solidFill>
          <a:ln/>
        </p:spPr>
      </p:sp>
      <p:pic>
        <p:nvPicPr>
          <p:cNvPr id="31" name="Image 3" descr="/home/claude/build/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72" y="5226528"/>
            <a:ext cx="199705" cy="19970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70432" y="484632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 · 제출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3611880" y="484632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999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재현 검증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5577840" y="484632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43개 테스트 · 4개 시나리오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8915400" y="4846320"/>
            <a:ext cx="25877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요약 · 보고서 · 제출 ZIP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앱 · 보고서 · 발표자료 · 검증 결과를 하나의 제출 패키지로 구성했습니다.</a:t>
            </a:r>
            <a:endParaRPr lang="en-US" sz="1350" dirty="0"/>
          </a:p>
        </p:txBody>
      </p:sp>
      <p:sp>
        <p:nvSpPr>
          <p:cNvPr id="37" name="Shape 31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7E1E8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4864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 원칙: 입력 데이터 → 계산 모듈 → 사용자 화면 → 자동 검증 → 제출 산출물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메디웨이는 지도 앞단에서 의료 접근성 판단을 돕습니다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04772"/>
            <a:ext cx="402336" cy="402336"/>
          </a:xfrm>
          <a:prstGeom prst="ellipse">
            <a:avLst/>
          </a:prstGeom>
          <a:solidFill>
            <a:srgbClr val="1479B8"/>
          </a:solidFill>
          <a:ln/>
        </p:spPr>
      </p:sp>
      <p:pic>
        <p:nvPicPr>
          <p:cNvPr id="4" name="Image 0" descr="/home/claude/build/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1701333"/>
            <a:ext cx="209215" cy="2092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4173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가치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154680" y="1417320"/>
            <a:ext cx="84883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사용자는 질환 · 이동 · 운영 조건을 한 화면에서 비교하고 후보를 빠르게 좁힐 수 있습니다.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11094415" cy="0"/>
          </a:xfrm>
          <a:prstGeom prst="line">
            <a:avLst/>
          </a:prstGeom>
          <a:noFill/>
          <a:ln w="9525">
            <a:solidFill>
              <a:srgbClr val="D7E1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382012"/>
            <a:ext cx="402336" cy="402336"/>
          </a:xfrm>
          <a:prstGeom prst="ellipse">
            <a:avLst/>
          </a:prstGeom>
          <a:solidFill>
            <a:srgbClr val="11999E"/>
          </a:solidFill>
          <a:ln/>
        </p:spPr>
      </p:sp>
      <p:pic>
        <p:nvPicPr>
          <p:cNvPr id="9" name="Image 1" descr="/home/claude/build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2478573"/>
            <a:ext cx="209215" cy="2092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1945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결과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154680" y="2194560"/>
            <a:ext cx="84883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 TOP 5, 현재 위치 지도, 대중교통 비교, CS 챗봇과 설명 가능한 점수를 구현했습니다.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2971800"/>
            <a:ext cx="11094415" cy="0"/>
          </a:xfrm>
          <a:prstGeom prst="line">
            <a:avLst/>
          </a:prstGeom>
          <a:noFill/>
          <a:ln w="9525">
            <a:solidFill>
              <a:srgbClr val="D7E1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3159252"/>
            <a:ext cx="402336" cy="402336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14" name="Image 2" descr="/home/claude/build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3255813"/>
            <a:ext cx="209215" cy="20921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971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원칙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154680" y="2971800"/>
            <a:ext cx="84883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unknown은 중립 처리하고 운영시간 · 근거 신뢰도와 의료 수준을 구분해 과장을 막았습니다.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3749040"/>
            <a:ext cx="11094415" cy="0"/>
          </a:xfrm>
          <a:prstGeom prst="line">
            <a:avLst/>
          </a:prstGeom>
          <a:noFill/>
          <a:ln w="9525">
            <a:solidFill>
              <a:srgbClr val="D7E1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48640" y="3936492"/>
            <a:ext cx="402336" cy="402336"/>
          </a:xfrm>
          <a:prstGeom prst="ellipse">
            <a:avLst/>
          </a:prstGeom>
          <a:solidFill>
            <a:srgbClr val="C56A12"/>
          </a:solidFill>
          <a:ln/>
        </p:spPr>
      </p:sp>
      <p:pic>
        <p:nvPicPr>
          <p:cNvPr id="19" name="Image 3" descr="/home/claude/build/icons/ale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1" y="4033053"/>
            <a:ext cx="209215" cy="20921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43000" y="37490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한계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3154680" y="3749040"/>
            <a:ext cx="84883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 기반 가중치 · 일부 접근성 미확인 · 실시간 휴진 · 접수 마감 미반영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4864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999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단계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5148072"/>
            <a:ext cx="2057949" cy="502920"/>
          </a:xfrm>
          <a:prstGeom prst="roundRect">
            <a:avLst>
              <a:gd name="adj" fmla="val 14545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594360" y="5148072"/>
            <a:ext cx="19665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의료 API 확대</a:t>
            </a:r>
            <a:endParaRPr lang="en-US" sz="1080" dirty="0"/>
          </a:p>
        </p:txBody>
      </p:sp>
      <p:sp>
        <p:nvSpPr>
          <p:cNvPr id="25" name="Text 19"/>
          <p:cNvSpPr/>
          <p:nvPr/>
        </p:nvSpPr>
        <p:spPr>
          <a:xfrm>
            <a:off x="2606589" y="5148072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2807757" y="5148072"/>
            <a:ext cx="2057949" cy="502920"/>
          </a:xfrm>
          <a:prstGeom prst="roundRect">
            <a:avLst>
              <a:gd name="adj" fmla="val 14545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2853477" y="5148072"/>
            <a:ext cx="19665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실시간 경로 보강</a:t>
            </a:r>
            <a:endParaRPr lang="en-US" sz="1080" dirty="0"/>
          </a:p>
        </p:txBody>
      </p:sp>
      <p:sp>
        <p:nvSpPr>
          <p:cNvPr id="28" name="Text 22"/>
          <p:cNvSpPr/>
          <p:nvPr/>
        </p:nvSpPr>
        <p:spPr>
          <a:xfrm>
            <a:off x="4865705" y="5148072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066873" y="5148072"/>
            <a:ext cx="2057949" cy="502920"/>
          </a:xfrm>
          <a:prstGeom prst="roundRect">
            <a:avLst>
              <a:gd name="adj" fmla="val 14545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5112593" y="5148072"/>
            <a:ext cx="19665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접근성 검증</a:t>
            </a:r>
            <a:endParaRPr lang="en-US" sz="1080" dirty="0"/>
          </a:p>
        </p:txBody>
      </p:sp>
      <p:sp>
        <p:nvSpPr>
          <p:cNvPr id="31" name="Text 25"/>
          <p:cNvSpPr/>
          <p:nvPr/>
        </p:nvSpPr>
        <p:spPr>
          <a:xfrm>
            <a:off x="7124822" y="5148072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7325990" y="5148072"/>
            <a:ext cx="2057949" cy="502920"/>
          </a:xfrm>
          <a:prstGeom prst="roundRect">
            <a:avLst>
              <a:gd name="adj" fmla="val 14545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7371710" y="5148072"/>
            <a:ext cx="19665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테스트</a:t>
            </a:r>
            <a:endParaRPr lang="en-US" sz="1080" dirty="0"/>
          </a:p>
        </p:txBody>
      </p:sp>
      <p:sp>
        <p:nvSpPr>
          <p:cNvPr id="34" name="Text 28"/>
          <p:cNvSpPr/>
          <p:nvPr/>
        </p:nvSpPr>
        <p:spPr>
          <a:xfrm>
            <a:off x="9383939" y="5148072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9585107" y="5148072"/>
            <a:ext cx="2057949" cy="502920"/>
          </a:xfrm>
          <a:prstGeom prst="roundRect">
            <a:avLst>
              <a:gd name="adj" fmla="val 14545"/>
            </a:avLst>
          </a:prstGeom>
          <a:solidFill>
            <a:srgbClr val="E8F3FA"/>
          </a:solidFill>
          <a:ln w="15875">
            <a:solidFill>
              <a:srgbClr val="11999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A">
                <a:alpha val="8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9630827" y="5148072"/>
            <a:ext cx="19665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 확대</a:t>
            </a:r>
            <a:endParaRPr lang="en-US" sz="1080" dirty="0"/>
          </a:p>
        </p:txBody>
      </p:sp>
      <p:sp>
        <p:nvSpPr>
          <p:cNvPr id="37" name="Shape 31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7E1E8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2026-07-15T09:42:33Z</dcterms:created>
  <dcterms:modified xsi:type="dcterms:W3CDTF">2026-07-15T09:42:33Z</dcterms:modified>
</cp:coreProperties>
</file>